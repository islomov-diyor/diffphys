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0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2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6.wmf"/><Relationship Id="rId7" Type="http://schemas.openxmlformats.org/officeDocument/2006/relationships/image" Target="../media/image32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1.wmf"/><Relationship Id="rId9" Type="http://schemas.openxmlformats.org/officeDocument/2006/relationships/image" Target="../media/image4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32.wmf"/><Relationship Id="rId1" Type="http://schemas.openxmlformats.org/officeDocument/2006/relationships/image" Target="../media/image41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4" Type="http://schemas.openxmlformats.org/officeDocument/2006/relationships/image" Target="../media/image5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34D7-B856-4EA0-923B-8F60E8C2376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2DA1B0C-59F6-42AE-99D3-57F953AA9E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416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34D7-B856-4EA0-923B-8F60E8C2376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1B0C-59F6-42AE-99D3-57F953AA9E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097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34D7-B856-4EA0-923B-8F60E8C2376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DA1B0C-59F6-42AE-99D3-57F953AA9E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198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34D7-B856-4EA0-923B-8F60E8C2376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2DA1B0C-59F6-42AE-99D3-57F953AA9E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416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34D7-B856-4EA0-923B-8F60E8C2376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2DA1B0C-59F6-42AE-99D3-57F953AA9E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670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34D7-B856-4EA0-923B-8F60E8C2376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1B0C-59F6-42AE-99D3-57F953AA9E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4133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34D7-B856-4EA0-923B-8F60E8C2376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1B0C-59F6-42AE-99D3-57F953AA9E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778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34D7-B856-4EA0-923B-8F60E8C2376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1B0C-59F6-42AE-99D3-57F953AA9E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25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34D7-B856-4EA0-923B-8F60E8C2376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DA1B0C-59F6-42AE-99D3-57F953AA9E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067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34D7-B856-4EA0-923B-8F60E8C2376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DA1B0C-59F6-42AE-99D3-57F953AA9E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282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34D7-B856-4EA0-923B-8F60E8C2376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DA1B0C-59F6-42AE-99D3-57F953AA9ED6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6230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34D7-B856-4EA0-923B-8F60E8C2376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DA1B0C-59F6-42AE-99D3-57F953AA9E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646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34D7-B856-4EA0-923B-8F60E8C2376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DA1B0C-59F6-42AE-99D3-57F953AA9ED6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129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34D7-B856-4EA0-923B-8F60E8C2376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DA1B0C-59F6-42AE-99D3-57F953AA9E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0306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34D7-B856-4EA0-923B-8F60E8C2376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1B0C-59F6-42AE-99D3-57F953AA9E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968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34D7-B856-4EA0-923B-8F60E8C2376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1B0C-59F6-42AE-99D3-57F953AA9E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295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A34D7-B856-4EA0-923B-8F60E8C2376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2DA1B0C-59F6-42AE-99D3-57F953AA9E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348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1" r:id="rId1"/>
    <p:sldLayoutId id="2147484112" r:id="rId2"/>
    <p:sldLayoutId id="2147484113" r:id="rId3"/>
    <p:sldLayoutId id="2147484114" r:id="rId4"/>
    <p:sldLayoutId id="2147484115" r:id="rId5"/>
    <p:sldLayoutId id="2147484116" r:id="rId6"/>
    <p:sldLayoutId id="2147484117" r:id="rId7"/>
    <p:sldLayoutId id="2147484118" r:id="rId8"/>
    <p:sldLayoutId id="2147484119" r:id="rId9"/>
    <p:sldLayoutId id="2147484120" r:id="rId10"/>
    <p:sldLayoutId id="2147484121" r:id="rId11"/>
    <p:sldLayoutId id="2147484122" r:id="rId12"/>
    <p:sldLayoutId id="2147484123" r:id="rId13"/>
    <p:sldLayoutId id="2147484124" r:id="rId14"/>
    <p:sldLayoutId id="2147484125" r:id="rId15"/>
    <p:sldLayoutId id="214748412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oleObject" Target="../embeddings/oleObject8.bin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8.wmf"/><Relationship Id="rId9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5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6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image" Target="../media/image25.wmf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4.bin"/><Relationship Id="rId14" Type="http://schemas.openxmlformats.org/officeDocument/2006/relationships/oleObject" Target="../embeddings/oleObject2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41.bin"/><Relationship Id="rId18" Type="http://schemas.openxmlformats.org/officeDocument/2006/relationships/image" Target="../media/image39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2.wmf"/><Relationship Id="rId20" Type="http://schemas.openxmlformats.org/officeDocument/2006/relationships/image" Target="../media/image40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42.bin"/><Relationship Id="rId10" Type="http://schemas.openxmlformats.org/officeDocument/2006/relationships/image" Target="../media/image31.wmf"/><Relationship Id="rId19" Type="http://schemas.openxmlformats.org/officeDocument/2006/relationships/oleObject" Target="../embeddings/oleObject44.bin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3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50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4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43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4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46.wmf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1.wmf"/><Relationship Id="rId11" Type="http://schemas.openxmlformats.org/officeDocument/2006/relationships/image" Target="../media/image53.wmf"/><Relationship Id="rId5" Type="http://schemas.openxmlformats.org/officeDocument/2006/relationships/oleObject" Target="../embeddings/oleObject55.bin"/><Relationship Id="rId10" Type="http://schemas.openxmlformats.org/officeDocument/2006/relationships/oleObject" Target="../embeddings/oleObject57.bin"/><Relationship Id="rId4" Type="http://schemas.openxmlformats.org/officeDocument/2006/relationships/image" Target="../media/image50.wmf"/><Relationship Id="rId9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63.bin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5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6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idx="4294967295"/>
          </p:nvPr>
        </p:nvSpPr>
        <p:spPr>
          <a:xfrm>
            <a:off x="1498600" y="1770063"/>
            <a:ext cx="9144000" cy="2387600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1-Mavzu: </a:t>
            </a:r>
            <a:r>
              <a:rPr lang="en-US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Oddiy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differensial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tenglamalar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nazariyasining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asosiy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tushunchalari</a:t>
            </a:r>
            <a:r>
              <a:rPr lang="ru-RU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403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746761"/>
            <a:ext cx="9670626" cy="529460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qo‘yilishi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Ta’riflar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tartibli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tushunchalar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Misollar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301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6834" y="571501"/>
            <a:ext cx="10005906" cy="535556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y=f(x)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biror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hodisaning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miqdoriy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tomonini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ettirsin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Ko‘pincha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biz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hodisani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tekshirishda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x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orasidagi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bog’lanish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xarakterini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bevosita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belgilay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olmaymiz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ammo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miqdorlar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olingan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hosilalar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orasidagi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munosabatni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belgilay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olishimiz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yozishimiz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o‘zgaruvchilar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hosilalar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orasida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topilga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munosabatdan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orasidagi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bog’lanishni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bevosita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belgilash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y=f(x)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boshqacha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aytganda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integrallash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talab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etiladi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737360" y="12344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-190500" y="-114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8" name="Объект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483529"/>
              </p:ext>
            </p:extLst>
          </p:nvPr>
        </p:nvGraphicFramePr>
        <p:xfrm>
          <a:off x="3533987" y="2456180"/>
          <a:ext cx="2120900" cy="475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Equation" r:id="rId3" imgW="1016000" imgH="228600" progId="Equation.DSMT4">
                  <p:embed/>
                </p:oleObj>
              </mc:Choice>
              <mc:Fallback>
                <p:oleObj name="Equation" r:id="rId3" imgW="10160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3987" y="2456180"/>
                        <a:ext cx="2120900" cy="4757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7674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5000" y="384175"/>
            <a:ext cx="10450512" cy="532702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1-misol.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Massasi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jism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biror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balandlikdan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tashlab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yuborilgan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Agar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jismga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og’irlik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kuchidan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tashqari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havoning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tezlikka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proporsiyanal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proporsionallik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koeffitsiyenti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qarshilik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ta’sir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etsa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jismning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qonun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o‘zgarishini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v=f(t)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munosabatni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talab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etiladi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Nyutonning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ikkinchi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qonuniga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 algn="just">
              <a:buNone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Bunda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harakatdagi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jismning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tezlanishi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tezlikdan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olingan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hosila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jismga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yo‘nalishida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ta’sir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etuvchi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og’irlik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havoning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qarshilik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tezlikning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yunalishiga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teskari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yunalgani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manfiy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ishora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olamiz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-419100" y="-2000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606836"/>
              </p:ext>
            </p:extLst>
          </p:nvPr>
        </p:nvGraphicFramePr>
        <p:xfrm>
          <a:off x="8070850" y="2918453"/>
          <a:ext cx="9842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" name="Equation" r:id="rId3" imgW="622080" imgH="393480" progId="Equation.DSMT4">
                  <p:embed/>
                </p:oleObj>
              </mc:Choice>
              <mc:Fallback>
                <p:oleObj name="Equation" r:id="rId3" imgW="622080" imgH="3934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0850" y="2918453"/>
                        <a:ext cx="984250" cy="647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380647"/>
              </p:ext>
            </p:extLst>
          </p:nvPr>
        </p:nvGraphicFramePr>
        <p:xfrm>
          <a:off x="2376488" y="3432175"/>
          <a:ext cx="3397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" name="Equation" r:id="rId5" imgW="215640" imgH="393480" progId="Equation.DSMT4">
                  <p:embed/>
                </p:oleObj>
              </mc:Choice>
              <mc:Fallback>
                <p:oleObj name="Equation" r:id="rId5" imgW="2156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8" y="3432175"/>
                        <a:ext cx="339725" cy="647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6663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39800" y="431800"/>
            <a:ext cx="10082212" cy="54794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Shunday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dirty="0" smtClean="0"/>
              <a:t>                                                    </a:t>
            </a: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Biz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noma’lum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hosilasi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orasidagi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bog’lanishni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ifodalovchi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munosabatni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nomalum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nisbatan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qildik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aynan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qanoatlantiruvchi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v=f(t)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demakdir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qanoatlantiruvchi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cheksiz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-8890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0583"/>
              </p:ext>
            </p:extLst>
          </p:nvPr>
        </p:nvGraphicFramePr>
        <p:xfrm>
          <a:off x="2027238" y="1041400"/>
          <a:ext cx="3000829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Equation" r:id="rId3" imgW="2019240" imgH="393480" progId="Equation.DSMT4">
                  <p:embed/>
                </p:oleObj>
              </mc:Choice>
              <mc:Fallback>
                <p:oleObj name="Equation" r:id="rId3" imgW="2019240" imgH="3934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1041400"/>
                        <a:ext cx="3000829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643157"/>
              </p:ext>
            </p:extLst>
          </p:nvPr>
        </p:nvGraphicFramePr>
        <p:xfrm>
          <a:off x="7612289" y="1665432"/>
          <a:ext cx="292100" cy="557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Equation" r:id="rId5" imgW="215713" imgH="393359" progId="Equation.DSMT4">
                  <p:embed/>
                </p:oleObj>
              </mc:Choice>
              <mc:Fallback>
                <p:oleObj name="Equation" r:id="rId5" imgW="215713" imgH="39335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2289" y="1665432"/>
                        <a:ext cx="292100" cy="5576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-39370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1431782"/>
              </p:ext>
            </p:extLst>
          </p:nvPr>
        </p:nvGraphicFramePr>
        <p:xfrm>
          <a:off x="3527652" y="5308600"/>
          <a:ext cx="32004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Equation" r:id="rId7" imgW="1917360" imgH="431640" progId="Equation.DSMT4">
                  <p:embed/>
                </p:oleObj>
              </mc:Choice>
              <mc:Fallback>
                <p:oleObj name="Equation" r:id="rId7" imgW="1917360" imgH="4316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652" y="5308600"/>
                        <a:ext cx="3200400" cy="749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9060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38300" y="838200"/>
            <a:ext cx="9383712" cy="498412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Ko‘rinishdagi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o‘zgarmas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miqdor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(1)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qanoatlantirishini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o‘quvchi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osonlik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tekshirish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funksiyalardan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qaysi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izlanayotgan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munosabatini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shartdan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foydalanamiz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jismni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tashlab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yuborishda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boshlang’ich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xususiy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nolga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biz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boshlang’ich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tezlikni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faraz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qilamiz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Ammo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izlanayotgan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v=f(t)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shunday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kerakki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362440"/>
              </p:ext>
            </p:extLst>
          </p:nvPr>
        </p:nvGraphicFramePr>
        <p:xfrm>
          <a:off x="3987800" y="3810000"/>
          <a:ext cx="406400" cy="597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name="Equation" r:id="rId3" imgW="165028" imgH="228501" progId="Equation.DSMT4">
                  <p:embed/>
                </p:oleObj>
              </mc:Choice>
              <mc:Fallback>
                <p:oleObj name="Equation" r:id="rId3" imgW="165028" imgH="228501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00" y="3810000"/>
                        <a:ext cx="406400" cy="5976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4237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54200" y="863600"/>
            <a:ext cx="9232900" cy="48895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t=0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boshlanishida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bajarilishi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t=0,              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qo‘yamiz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Bundan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Shunday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o‘zgarmas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miqdor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topildi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Demak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v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orasidagi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izlanayotgan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bog’lanish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678270"/>
              </p:ext>
            </p:extLst>
          </p:nvPr>
        </p:nvGraphicFramePr>
        <p:xfrm>
          <a:off x="10031412" y="863600"/>
          <a:ext cx="9398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3" name="Equation" r:id="rId3" imgW="393529" imgH="228501" progId="Equation.DSMT4">
                  <p:embed/>
                </p:oleObj>
              </mc:Choice>
              <mc:Fallback>
                <p:oleObj name="Equation" r:id="rId3" imgW="393529" imgH="228501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1412" y="863600"/>
                        <a:ext cx="939800" cy="587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08372"/>
              </p:ext>
            </p:extLst>
          </p:nvPr>
        </p:nvGraphicFramePr>
        <p:xfrm>
          <a:off x="8799512" y="1324570"/>
          <a:ext cx="110490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4" name="Equation" r:id="rId5" imgW="393529" imgH="228501" progId="Equation.DSMT4">
                  <p:embed/>
                </p:oleObj>
              </mc:Choice>
              <mc:Fallback>
                <p:oleObj name="Equation" r:id="rId5" imgW="393529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9512" y="1324570"/>
                        <a:ext cx="1104900" cy="6905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40595"/>
              </p:ext>
            </p:extLst>
          </p:nvPr>
        </p:nvGraphicFramePr>
        <p:xfrm>
          <a:off x="4244752" y="2190435"/>
          <a:ext cx="1470247" cy="686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5" name="Equation" r:id="rId6" imgW="875920" imgH="393529" progId="Equation.DSMT4">
                  <p:embed/>
                </p:oleObj>
              </mc:Choice>
              <mc:Fallback>
                <p:oleObj name="Equation" r:id="rId6" imgW="875920" imgH="39352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4752" y="2190435"/>
                        <a:ext cx="1470247" cy="6861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9500572"/>
              </p:ext>
            </p:extLst>
          </p:nvPr>
        </p:nvGraphicFramePr>
        <p:xfrm>
          <a:off x="4244751" y="3038440"/>
          <a:ext cx="1470247" cy="701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" name="Equation" r:id="rId8" imgW="863225" imgH="393529" progId="Equation.DSMT4">
                  <p:embed/>
                </p:oleObj>
              </mc:Choice>
              <mc:Fallback>
                <p:oleObj name="Equation" r:id="rId8" imgW="863225" imgH="39352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4751" y="3038440"/>
                        <a:ext cx="1470247" cy="7017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4673600" y="47117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971264"/>
              </p:ext>
            </p:extLst>
          </p:nvPr>
        </p:nvGraphicFramePr>
        <p:xfrm>
          <a:off x="3905250" y="4711700"/>
          <a:ext cx="398303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7" name="Equation" r:id="rId10" imgW="2565360" imgH="431640" progId="Equation.DSMT4">
                  <p:embed/>
                </p:oleObj>
              </mc:Choice>
              <mc:Fallback>
                <p:oleObj name="Equation" r:id="rId10" imgW="2565360" imgH="4316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0" y="4711700"/>
                        <a:ext cx="3983038" cy="698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9789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90662" y="749300"/>
            <a:ext cx="9485312" cy="5161922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Agar k=0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havoning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qarshiligi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yo‘q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e’tiborga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olmaydigan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darajada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fizikadan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qilamiz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Topilgan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t=0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bo‘lganda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boshlang’ich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qanoatlantiradi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-338138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926345"/>
              </p:ext>
            </p:extLst>
          </p:nvPr>
        </p:nvGraphicFramePr>
        <p:xfrm>
          <a:off x="3825875" y="2425700"/>
          <a:ext cx="34464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3" name="Equation" r:id="rId3" imgW="1854000" imgH="228600" progId="Equation.DSMT4">
                  <p:embed/>
                </p:oleObj>
              </mc:Choice>
              <mc:Fallback>
                <p:oleObj name="Equation" r:id="rId3" imgW="185400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75" y="2425700"/>
                        <a:ext cx="3446463" cy="45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47127"/>
              </p:ext>
            </p:extLst>
          </p:nvPr>
        </p:nvGraphicFramePr>
        <p:xfrm>
          <a:off x="9347942" y="3047529"/>
          <a:ext cx="1386733" cy="565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4" name="Equation" r:id="rId5" imgW="1002865" imgH="393529" progId="Equation.DSMT4">
                  <p:embed/>
                </p:oleObj>
              </mc:Choice>
              <mc:Fallback>
                <p:oleObj name="Equation" r:id="rId5" imgW="1002865" imgH="39352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7942" y="3047529"/>
                        <a:ext cx="1386733" cy="5654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-19050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539816"/>
              </p:ext>
            </p:extLst>
          </p:nvPr>
        </p:nvGraphicFramePr>
        <p:xfrm>
          <a:off x="8447238" y="3701893"/>
          <a:ext cx="761747" cy="476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5" name="Equation" r:id="rId7" imgW="393529" imgH="228501" progId="Equation.DSMT4">
                  <p:embed/>
                </p:oleObj>
              </mc:Choice>
              <mc:Fallback>
                <p:oleObj name="Equation" r:id="rId7" imgW="393529" imgH="22850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7238" y="3701893"/>
                        <a:ext cx="761747" cy="4760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8388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0700" y="495300"/>
            <a:ext cx="9713912" cy="541592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Ta’riflar</a:t>
            </a:r>
            <a:endParaRPr lang="ru-RU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1-ta’rif.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tenglama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erkli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o‘zgaruvchi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noma’lum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y=f(x)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hosilalari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orasidagi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bog’lanishni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ifodalaydigan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aytiladi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quyidagicha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belgilashlar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ifodalash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izlanayotgan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y=f(x)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erkli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o‘zgaruvchining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funksiyasi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320005"/>
              </p:ext>
            </p:extLst>
          </p:nvPr>
        </p:nvGraphicFramePr>
        <p:xfrm>
          <a:off x="8364803" y="1664635"/>
          <a:ext cx="1981729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7" name="Equation" r:id="rId3" imgW="1016000" imgH="228600" progId="Equation.DSMT4">
                  <p:embed/>
                </p:oleObj>
              </mc:Choice>
              <mc:Fallback>
                <p:oleObj name="Equation" r:id="rId3" imgW="101600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4803" y="1664635"/>
                        <a:ext cx="1981729" cy="444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549009"/>
              </p:ext>
            </p:extLst>
          </p:nvPr>
        </p:nvGraphicFramePr>
        <p:xfrm>
          <a:off x="1790700" y="3615585"/>
          <a:ext cx="3426354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8" name="Equation" r:id="rId5" imgW="1765300" imgH="228600" progId="Equation.DSMT4">
                  <p:embed/>
                </p:oleObj>
              </mc:Choice>
              <mc:Fallback>
                <p:oleObj name="Equation" r:id="rId5" imgW="17653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3615585"/>
                        <a:ext cx="3426354" cy="444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118569"/>
              </p:ext>
            </p:extLst>
          </p:nvPr>
        </p:nvGraphicFramePr>
        <p:xfrm>
          <a:off x="6647656" y="3583835"/>
          <a:ext cx="2708012" cy="63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9" name="Equation" r:id="rId7" imgW="1803400" imgH="419100" progId="Equation.DSMT4">
                  <p:embed/>
                </p:oleObj>
              </mc:Choice>
              <mc:Fallback>
                <p:oleObj name="Equation" r:id="rId7" imgW="18034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7656" y="3583835"/>
                        <a:ext cx="2708012" cy="6304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9083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92312" y="609600"/>
            <a:ext cx="9297988" cy="53721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2-ta’rif.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tartibi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hosilaning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tartibiga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aytiladi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tartibli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tenglamadir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englama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ikkinchi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tartibli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tenglamadir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305300" y="25019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0129115"/>
              </p:ext>
            </p:extLst>
          </p:nvPr>
        </p:nvGraphicFramePr>
        <p:xfrm>
          <a:off x="4114800" y="2273300"/>
          <a:ext cx="2114551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5" name="Equation" r:id="rId3" imgW="1066800" imgH="228600" progId="Equation.DSMT4">
                  <p:embed/>
                </p:oleObj>
              </mc:Choice>
              <mc:Fallback>
                <p:oleObj name="Equation" r:id="rId3" imgW="106680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273300"/>
                        <a:ext cx="2114551" cy="45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702300" y="35179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927427"/>
              </p:ext>
            </p:extLst>
          </p:nvPr>
        </p:nvGraphicFramePr>
        <p:xfrm>
          <a:off x="5702300" y="3517900"/>
          <a:ext cx="2868386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6" name="Equation" r:id="rId5" imgW="1459866" imgH="203112" progId="Equation.DSMT4">
                  <p:embed/>
                </p:oleObj>
              </mc:Choice>
              <mc:Fallback>
                <p:oleObj name="Equation" r:id="rId5" imgW="1459866" imgH="203112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2300" y="3517900"/>
                        <a:ext cx="2868386" cy="393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191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1000" y="596900"/>
            <a:ext cx="11264900" cy="60833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3-ta’rif.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integrali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qo‘yganda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ayniyatga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aylantiradigan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harqanday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y=(x)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aytiladi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1-misol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 smtClean="0"/>
              <a:t>                        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rinishdagi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ixtiyoriy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zgarmas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miqdorlarning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qiymatlarida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ladi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riligini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rsatilgan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funksiyalarni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rib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ishonish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2795446"/>
              </p:ext>
            </p:extLst>
          </p:nvPr>
        </p:nvGraphicFramePr>
        <p:xfrm>
          <a:off x="2782957" y="2224060"/>
          <a:ext cx="1308100" cy="693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2" name="Equation" r:id="rId3" imgW="787400" imgH="419100" progId="Equation.DSMT4">
                  <p:embed/>
                </p:oleObj>
              </mc:Choice>
              <mc:Fallback>
                <p:oleObj name="Equation" r:id="rId3" imgW="787400" imgH="4191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957" y="2224060"/>
                        <a:ext cx="1308100" cy="6934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529410"/>
              </p:ext>
            </p:extLst>
          </p:nvPr>
        </p:nvGraphicFramePr>
        <p:xfrm>
          <a:off x="1123792" y="3255242"/>
          <a:ext cx="4626429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3" name="Equation" r:id="rId5" imgW="2425700" imgH="203200" progId="Equation.DSMT4">
                  <p:embed/>
                </p:oleObj>
              </mc:Choice>
              <mc:Fallback>
                <p:oleObj name="Equation" r:id="rId5" imgW="2425700" imgH="203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792" y="3255242"/>
                        <a:ext cx="4626429" cy="381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6197039"/>
              </p:ext>
            </p:extLst>
          </p:nvPr>
        </p:nvGraphicFramePr>
        <p:xfrm>
          <a:off x="381000" y="3762901"/>
          <a:ext cx="3710057" cy="482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4" name="Equation" r:id="rId7" imgW="1688367" imgH="215806" progId="Equation.DSMT4">
                  <p:embed/>
                </p:oleObj>
              </mc:Choice>
              <mc:Fallback>
                <p:oleObj name="Equation" r:id="rId7" imgW="1688367" imgH="21580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762901"/>
                        <a:ext cx="3710057" cy="4820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993694"/>
              </p:ext>
            </p:extLst>
          </p:nvPr>
        </p:nvGraphicFramePr>
        <p:xfrm>
          <a:off x="5435600" y="3790861"/>
          <a:ext cx="2654301" cy="4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5" name="Equation" r:id="rId9" imgW="1371600" imgH="228600" progId="Equation.DSMT4">
                  <p:embed/>
                </p:oleObj>
              </mc:Choice>
              <mc:Fallback>
                <p:oleObj name="Equation" r:id="rId9" imgW="13716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790861"/>
                        <a:ext cx="2654301" cy="4541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3" name="Объект 12"/>
          <p:cNvGraphicFramePr>
            <a:graphicFrameLocks noChangeAspect="1"/>
          </p:cNvGraphicFramePr>
          <p:nvPr/>
        </p:nvGraphicFramePr>
        <p:xfrm>
          <a:off x="0" y="0"/>
          <a:ext cx="180975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6" name="Equation" r:id="rId11" imgW="177569" imgH="215619" progId="Equation.DSMT4">
                  <p:embed/>
                </p:oleObj>
              </mc:Choice>
              <mc:Fallback>
                <p:oleObj name="Equation" r:id="rId11" imgW="177569" imgH="215619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80975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487485"/>
              </p:ext>
            </p:extLst>
          </p:nvPr>
        </p:nvGraphicFramePr>
        <p:xfrm>
          <a:off x="5232401" y="4369780"/>
          <a:ext cx="406399" cy="491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7" name="Equation" r:id="rId13" imgW="177569" imgH="215619" progId="Equation.DSMT4">
                  <p:embed/>
                </p:oleObj>
              </mc:Choice>
              <mc:Fallback>
                <p:oleObj name="Equation" r:id="rId13" imgW="177569" imgH="215619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1" y="4369780"/>
                        <a:ext cx="406399" cy="4919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Объект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0134676"/>
              </p:ext>
            </p:extLst>
          </p:nvPr>
        </p:nvGraphicFramePr>
        <p:xfrm>
          <a:off x="7201126" y="4367772"/>
          <a:ext cx="4349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8" name="Equation" r:id="rId14" imgW="190440" imgH="228600" progId="Equation.DSMT4">
                  <p:embed/>
                </p:oleObj>
              </mc:Choice>
              <mc:Fallback>
                <p:oleObj name="Equation" r:id="rId14" imgW="190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1126" y="4367772"/>
                        <a:ext cx="434975" cy="520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8653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04800"/>
            <a:ext cx="10666412" cy="5606422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tartibli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tenglamalar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tushunchalar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tartibli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tenglama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ko‘rinishda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Agar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nisbatan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ko‘rinishda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mo‘mkin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768705"/>
              </p:ext>
            </p:extLst>
          </p:nvPr>
        </p:nvGraphicFramePr>
        <p:xfrm>
          <a:off x="3376613" y="2054225"/>
          <a:ext cx="399891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2" name="Equation" r:id="rId3" imgW="1625400" imgH="203040" progId="Equation.DSMT4">
                  <p:embed/>
                </p:oleObj>
              </mc:Choice>
              <mc:Fallback>
                <p:oleObj name="Equation" r:id="rId3" imgW="1625400" imgH="2030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6613" y="2054225"/>
                        <a:ext cx="3998912" cy="4905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357689"/>
              </p:ext>
            </p:extLst>
          </p:nvPr>
        </p:nvGraphicFramePr>
        <p:xfrm>
          <a:off x="7474227" y="2735087"/>
          <a:ext cx="410817" cy="454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3" name="Equation" r:id="rId5" imgW="177569" imgH="202936" progId="Equation.DSMT4">
                  <p:embed/>
                </p:oleObj>
              </mc:Choice>
              <mc:Fallback>
                <p:oleObj name="Equation" r:id="rId5" imgW="177569" imgH="202936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4227" y="2735087"/>
                        <a:ext cx="410817" cy="4540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094720"/>
              </p:ext>
            </p:extLst>
          </p:nvPr>
        </p:nvGraphicFramePr>
        <p:xfrm>
          <a:off x="2948264" y="3678760"/>
          <a:ext cx="4731371" cy="549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4" name="Equation" r:id="rId7" imgW="1726920" imgH="203040" progId="Equation.DSMT4">
                  <p:embed/>
                </p:oleObj>
              </mc:Choice>
              <mc:Fallback>
                <p:oleObj name="Equation" r:id="rId7" imgW="1726920" imgH="203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8264" y="3678760"/>
                        <a:ext cx="4731371" cy="5492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2570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62576" y="800100"/>
            <a:ext cx="10488612" cy="551752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biz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hosilaga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nisbatan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yechilgan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deymiz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teorema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o‘rinli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teorema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yechimining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mavjudligi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yagonaligi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teorema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deyiladi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Teorema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Agar             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tenglamada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f(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olingan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xususiy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hosilasi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xOy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tekislikdagi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nuqtani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oluvchi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biror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uzluksiz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qanoatlantiruvchi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birgina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y=f(x)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ekanini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bildiradi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400738"/>
              </p:ext>
            </p:extLst>
          </p:nvPr>
        </p:nvGraphicFramePr>
        <p:xfrm>
          <a:off x="4140200" y="3187701"/>
          <a:ext cx="1458536" cy="378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8" name="Equation" r:id="rId3" imgW="774364" imgH="203112" progId="Equation.DSMT4">
                  <p:embed/>
                </p:oleObj>
              </mc:Choice>
              <mc:Fallback>
                <p:oleObj name="Equation" r:id="rId3" imgW="774364" imgH="203112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187701"/>
                        <a:ext cx="1458536" cy="3781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406992"/>
              </p:ext>
            </p:extLst>
          </p:nvPr>
        </p:nvGraphicFramePr>
        <p:xfrm>
          <a:off x="4430336" y="3656486"/>
          <a:ext cx="337532" cy="618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9" name="Equation" r:id="rId5" imgW="228600" imgH="419100" progId="Equation.DSMT4">
                  <p:embed/>
                </p:oleObj>
              </mc:Choice>
              <mc:Fallback>
                <p:oleObj name="Equation" r:id="rId5" imgW="228600" imgH="419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0336" y="3656486"/>
                        <a:ext cx="337532" cy="6188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863303"/>
              </p:ext>
            </p:extLst>
          </p:nvPr>
        </p:nvGraphicFramePr>
        <p:xfrm>
          <a:off x="10312400" y="3656486"/>
          <a:ext cx="1132001" cy="512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0" name="Equation" r:id="rId7" imgW="508000" imgH="228600" progId="Equation.DSMT4">
                  <p:embed/>
                </p:oleObj>
              </mc:Choice>
              <mc:Fallback>
                <p:oleObj name="Equation" r:id="rId7" imgW="5080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2400" y="3656486"/>
                        <a:ext cx="1132001" cy="5126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073941"/>
              </p:ext>
            </p:extLst>
          </p:nvPr>
        </p:nvGraphicFramePr>
        <p:xfrm>
          <a:off x="7543800" y="4747923"/>
          <a:ext cx="914400" cy="498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1" name="Equation" r:id="rId9" imgW="419100" imgH="228600" progId="Equation.DSMT4">
                  <p:embed/>
                </p:oleObj>
              </mc:Choice>
              <mc:Fallback>
                <p:oleObj name="Equation" r:id="rId9" imgW="4191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747923"/>
                        <a:ext cx="914400" cy="4987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419729"/>
              </p:ext>
            </p:extLst>
          </p:nvPr>
        </p:nvGraphicFramePr>
        <p:xfrm>
          <a:off x="10312400" y="4747923"/>
          <a:ext cx="94138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2" name="Equation" r:id="rId11" imgW="431640" imgH="228600" progId="Equation.DSMT4">
                  <p:embed/>
                </p:oleObj>
              </mc:Choice>
              <mc:Fallback>
                <p:oleObj name="Equation" r:id="rId11" imgW="431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2400" y="4747923"/>
                        <a:ext cx="941388" cy="498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6439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1400" y="479425"/>
            <a:ext cx="10463212" cy="5403222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Hozirgina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bayon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teoremadan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cheksiz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yechimlarga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ekanligi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kelib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agar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hokazo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nuqtalar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yotsa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grafigi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nuqtadan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o‘tadigan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nuqtadan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o‘tadigan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nuqtadan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o‘tadigan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hokazo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boshlang’ich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deyiladi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ko‘pincha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o‘rinishda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yoziladi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0" y="0"/>
          <a:ext cx="12382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1" name="Equation" r:id="rId3" imgW="126780" imgH="164814" progId="Equation.DSMT4">
                  <p:embed/>
                </p:oleObj>
              </mc:Choice>
              <mc:Fallback>
                <p:oleObj name="Equation" r:id="rId3" imgW="126780" imgH="164814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23825" cy="161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823199" y="812800"/>
            <a:ext cx="1250461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272190"/>
              </p:ext>
            </p:extLst>
          </p:nvPr>
        </p:nvGraphicFramePr>
        <p:xfrm>
          <a:off x="7937500" y="636859"/>
          <a:ext cx="482601" cy="399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2" name="Equation" r:id="rId5" imgW="241200" imgH="203040" progId="Equation.DSMT4">
                  <p:embed/>
                </p:oleObj>
              </mc:Choice>
              <mc:Fallback>
                <p:oleObj name="Equation" r:id="rId5" imgW="24120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0" y="636859"/>
                        <a:ext cx="482601" cy="3998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-285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3562343"/>
              </p:ext>
            </p:extLst>
          </p:nvPr>
        </p:nvGraphicFramePr>
        <p:xfrm>
          <a:off x="2311399" y="1600201"/>
          <a:ext cx="239136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3" name="Equation" r:id="rId7" imgW="1574800" imgH="254000" progId="Equation.DSMT4">
                  <p:embed/>
                </p:oleObj>
              </mc:Choice>
              <mc:Fallback>
                <p:oleObj name="Equation" r:id="rId7" imgW="15748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399" y="1600201"/>
                        <a:ext cx="2391363" cy="393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4" name="Объект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5804630"/>
              </p:ext>
            </p:extLst>
          </p:nvPr>
        </p:nvGraphicFramePr>
        <p:xfrm>
          <a:off x="3238500" y="2003426"/>
          <a:ext cx="774700" cy="350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4" name="Equation" r:id="rId9" imgW="508000" imgH="228600" progId="Equation.DSMT4">
                  <p:embed/>
                </p:oleObj>
              </mc:Choice>
              <mc:Fallback>
                <p:oleObj name="Equation" r:id="rId9" imgW="5080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2003426"/>
                        <a:ext cx="774700" cy="3508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6" name="Объект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758126"/>
              </p:ext>
            </p:extLst>
          </p:nvPr>
        </p:nvGraphicFramePr>
        <p:xfrm>
          <a:off x="628650" y="2574925"/>
          <a:ext cx="825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5" name="Equation" r:id="rId11" imgW="495085" imgH="228501" progId="Equation.DSMT4">
                  <p:embed/>
                </p:oleObj>
              </mc:Choice>
              <mc:Fallback>
                <p:oleObj name="Equation" r:id="rId11" imgW="495085" imgH="228501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2574925"/>
                        <a:ext cx="825500" cy="381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8" name="Объект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530510"/>
              </p:ext>
            </p:extLst>
          </p:nvPr>
        </p:nvGraphicFramePr>
        <p:xfrm>
          <a:off x="9029700" y="2582114"/>
          <a:ext cx="952500" cy="431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6" name="Equation" r:id="rId13" imgW="508000" imgH="228600" progId="Equation.DSMT4">
                  <p:embed/>
                </p:oleObj>
              </mc:Choice>
              <mc:Fallback>
                <p:oleObj name="Equation" r:id="rId13" imgW="508000" imgH="228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9700" y="2582114"/>
                        <a:ext cx="952500" cy="4313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0" name="Объект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923943"/>
              </p:ext>
            </p:extLst>
          </p:nvPr>
        </p:nvGraphicFramePr>
        <p:xfrm>
          <a:off x="1068387" y="3746499"/>
          <a:ext cx="900446" cy="491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7" name="Equation" r:id="rId15" imgW="419100" imgH="228600" progId="Equation.DSMT4">
                  <p:embed/>
                </p:oleObj>
              </mc:Choice>
              <mc:Fallback>
                <p:oleObj name="Equation" r:id="rId15" imgW="4191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387" y="3746499"/>
                        <a:ext cx="900446" cy="4911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2" name="Объект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51702"/>
              </p:ext>
            </p:extLst>
          </p:nvPr>
        </p:nvGraphicFramePr>
        <p:xfrm>
          <a:off x="7200900" y="3711338"/>
          <a:ext cx="444500" cy="561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8" name="Equation" r:id="rId17" imgW="177646" imgH="228402" progId="Equation.DSMT4">
                  <p:embed/>
                </p:oleObj>
              </mc:Choice>
              <mc:Fallback>
                <p:oleObj name="Equation" r:id="rId17" imgW="177646" imgH="228402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900" y="3711338"/>
                        <a:ext cx="444500" cy="5614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4" name="Объект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484808"/>
              </p:ext>
            </p:extLst>
          </p:nvPr>
        </p:nvGraphicFramePr>
        <p:xfrm>
          <a:off x="3281363" y="4768850"/>
          <a:ext cx="13557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9" name="Equation" r:id="rId19" imgW="660240" imgH="241200" progId="Equation.DSMT4">
                  <p:embed/>
                </p:oleObj>
              </mc:Choice>
              <mc:Fallback>
                <p:oleObj name="Equation" r:id="rId19" imgW="660240" imgH="2412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1363" y="4768850"/>
                        <a:ext cx="1355725" cy="488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2307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7409" y="0"/>
            <a:ext cx="10537203" cy="610152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1-ta’rif.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tartibli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ixtiyoriy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o‘zgarmas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miqdorga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bog‘liq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shartlarni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qanoatlantiruvchi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unksiyaga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aytiladi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a)Bu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o‘zgarmas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miqdorning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konkret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olingan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qiymatida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qanoatlantiradi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lvl="0" indent="-514350" algn="just">
              <a:buAutoNum type="alphaLcParenR" startAt="2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bo‘lganda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yana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boshlang’ich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C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miqdorning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shunday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qiymatini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topish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mumkinki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boshlang’ich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qanoatlantiradi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66691"/>
              </p:ext>
            </p:extLst>
          </p:nvPr>
        </p:nvGraphicFramePr>
        <p:xfrm>
          <a:off x="2771774" y="1784135"/>
          <a:ext cx="3175139" cy="41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2" name="Equation" r:id="rId3" imgW="1549080" imgH="203040" progId="Equation.DSMT4">
                  <p:embed/>
                </p:oleObj>
              </mc:Choice>
              <mc:Fallback>
                <p:oleObj name="Equation" r:id="rId3" imgW="1549080" imgH="2030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4" y="1784135"/>
                        <a:ext cx="3175139" cy="4115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7068783"/>
              </p:ext>
            </p:extLst>
          </p:nvPr>
        </p:nvGraphicFramePr>
        <p:xfrm>
          <a:off x="1491353" y="3982243"/>
          <a:ext cx="876300" cy="477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3" name="Equation" r:id="rId5" imgW="419100" imgH="228600" progId="Equation.DSMT4">
                  <p:embed/>
                </p:oleObj>
              </mc:Choice>
              <mc:Fallback>
                <p:oleObj name="Equation" r:id="rId5" imgW="4191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1353" y="3982243"/>
                        <a:ext cx="876300" cy="4779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341144"/>
              </p:ext>
            </p:extLst>
          </p:nvPr>
        </p:nvGraphicFramePr>
        <p:xfrm>
          <a:off x="4191596" y="3992289"/>
          <a:ext cx="9017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4" name="Equation" r:id="rId7" imgW="431640" imgH="228600" progId="Equation.DSMT4">
                  <p:embed/>
                </p:oleObj>
              </mc:Choice>
              <mc:Fallback>
                <p:oleObj name="Equation" r:id="rId7" imgW="431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596" y="3992289"/>
                        <a:ext cx="901700" cy="4778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6854399"/>
              </p:ext>
            </p:extLst>
          </p:nvPr>
        </p:nvGraphicFramePr>
        <p:xfrm>
          <a:off x="6290222" y="4021931"/>
          <a:ext cx="119684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5" name="Equation" r:id="rId9" imgW="723586" imgH="241195" progId="Equation.DSMT4">
                  <p:embed/>
                </p:oleObj>
              </mc:Choice>
              <mc:Fallback>
                <p:oleObj name="Equation" r:id="rId9" imgW="723586" imgH="24119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0222" y="4021931"/>
                        <a:ext cx="1196847" cy="393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92463"/>
              </p:ext>
            </p:extLst>
          </p:nvPr>
        </p:nvGraphicFramePr>
        <p:xfrm>
          <a:off x="8958237" y="4470127"/>
          <a:ext cx="914400" cy="447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6" name="Equation" r:id="rId11" imgW="469900" imgH="228600" progId="Equation.DSMT4">
                  <p:embed/>
                </p:oleObj>
              </mc:Choice>
              <mc:Fallback>
                <p:oleObj name="Equation" r:id="rId11" imgW="4699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8237" y="4470127"/>
                        <a:ext cx="914400" cy="4478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4" name="Объект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518439"/>
              </p:ext>
            </p:extLst>
          </p:nvPr>
        </p:nvGraphicFramePr>
        <p:xfrm>
          <a:off x="6407746" y="5050926"/>
          <a:ext cx="1453554" cy="415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7" name="Equation" r:id="rId13" imgW="800100" imgH="228600" progId="Equation.DSMT4">
                  <p:embed/>
                </p:oleObj>
              </mc:Choice>
              <mc:Fallback>
                <p:oleObj name="Equation" r:id="rId13" imgW="80010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746" y="5050926"/>
                        <a:ext cx="1453554" cy="4153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6909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6600" y="406400"/>
            <a:ext cx="10768012" cy="5504822"/>
          </a:xfrm>
        </p:spPr>
        <p:txBody>
          <a:bodyPr>
            <a:normAutofit fontScale="92500" lnSpcReduction="20000"/>
          </a:bodyPr>
          <a:lstStyle/>
          <a:p>
            <a:pPr marL="0" lvl="0" indent="0" algn="just">
              <a:buNone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Bunda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qiymatlar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o‘zgaruvchilarning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sohasining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mavjudligi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yagonaligi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teoremaning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shartlari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bajariladigan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qismiga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tegishli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faraz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Biz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yechimini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izlashda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ko‘pincha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nisbatan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yechilmagan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ko‘rinishdagi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munosabatga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kelib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qolamiz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munosabatni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nisbatan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yechsak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qilamiz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Ammo 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munosabatdan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ifoda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bo‘lavermaydi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hollarda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oshkormas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ko‘rinishda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qoldiriladi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9836"/>
              </p:ext>
            </p:extLst>
          </p:nvPr>
        </p:nvGraphicFramePr>
        <p:xfrm>
          <a:off x="2085975" y="399256"/>
          <a:ext cx="34448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7" name="Equation" r:id="rId3" imgW="164880" imgH="228600" progId="Equation.DSMT4">
                  <p:embed/>
                </p:oleObj>
              </mc:Choice>
              <mc:Fallback>
                <p:oleObj name="Equation" r:id="rId3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399256"/>
                        <a:ext cx="344488" cy="479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142142"/>
              </p:ext>
            </p:extLst>
          </p:nvPr>
        </p:nvGraphicFramePr>
        <p:xfrm>
          <a:off x="3317875" y="399256"/>
          <a:ext cx="3714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8" name="Equation" r:id="rId5" imgW="177480" imgH="228600" progId="Equation.DSMT4">
                  <p:embed/>
                </p:oleObj>
              </mc:Choice>
              <mc:Fallback>
                <p:oleObj name="Equation" r:id="rId5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75" y="399256"/>
                        <a:ext cx="371475" cy="4778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00769"/>
              </p:ext>
            </p:extLst>
          </p:nvPr>
        </p:nvGraphicFramePr>
        <p:xfrm>
          <a:off x="3689350" y="2841708"/>
          <a:ext cx="370363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9" name="Equation" r:id="rId7" imgW="1726920" imgH="253800" progId="Equation.DSMT4">
                  <p:embed/>
                </p:oleObj>
              </mc:Choice>
              <mc:Fallback>
                <p:oleObj name="Equation" r:id="rId7" imgW="1726920" imgH="253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350" y="2841708"/>
                        <a:ext cx="3703638" cy="552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10425459" y="3752334"/>
                <a:ext cx="6374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5459" y="3752334"/>
                <a:ext cx="637482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6934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4400" y="495300"/>
            <a:ext cx="10590212" cy="5415922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oshkormas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ifodalovchi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ko‘rinishdagi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integrali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deyiladi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2-ta’rif.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Ixtiyoriy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o‘zgarmas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miqdorga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ma’lum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qiymat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natijasida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yechimdan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bo‘ladigan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xususiy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ataladi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munosabat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xususiy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integrali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deyiladi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508985"/>
              </p:ext>
            </p:extLst>
          </p:nvPr>
        </p:nvGraphicFramePr>
        <p:xfrm>
          <a:off x="9388474" y="593725"/>
          <a:ext cx="198913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3" name="Equation" r:id="rId3" imgW="927000" imgH="253800" progId="Equation.DSMT4">
                  <p:embed/>
                </p:oleObj>
              </mc:Choice>
              <mc:Fallback>
                <p:oleObj name="Equation" r:id="rId3" imgW="9270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8474" y="593725"/>
                        <a:ext cx="1989138" cy="552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081234"/>
              </p:ext>
            </p:extLst>
          </p:nvPr>
        </p:nvGraphicFramePr>
        <p:xfrm>
          <a:off x="9142413" y="2347913"/>
          <a:ext cx="98107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Equation" r:id="rId5" imgW="457200" imgH="228600" progId="Equation.DSMT4">
                  <p:embed/>
                </p:oleObj>
              </mc:Choice>
              <mc:Fallback>
                <p:oleObj name="Equation" r:id="rId5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2413" y="2347913"/>
                        <a:ext cx="981075" cy="4968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051505"/>
              </p:ext>
            </p:extLst>
          </p:nvPr>
        </p:nvGraphicFramePr>
        <p:xfrm>
          <a:off x="3719341" y="2691884"/>
          <a:ext cx="163353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Equation" r:id="rId7" imgW="761760" imgH="253800" progId="Equation.DSMT4">
                  <p:embed/>
                </p:oleObj>
              </mc:Choice>
              <mc:Fallback>
                <p:oleObj name="Equation" r:id="rId7" imgW="761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341" y="2691884"/>
                        <a:ext cx="1633538" cy="552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2859765" y="3340100"/>
                <a:ext cx="171915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765" y="3340100"/>
                <a:ext cx="1719152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203637"/>
              </p:ext>
            </p:extLst>
          </p:nvPr>
        </p:nvGraphicFramePr>
        <p:xfrm>
          <a:off x="2480242" y="3766807"/>
          <a:ext cx="209867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6" name="Equation" r:id="rId10" imgW="977760" imgH="253800" progId="Equation.DSMT4">
                  <p:embed/>
                </p:oleObj>
              </mc:Choice>
              <mc:Fallback>
                <p:oleObj name="Equation" r:id="rId10" imgW="977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0242" y="3766807"/>
                        <a:ext cx="2098675" cy="552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2284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2600" y="546100"/>
            <a:ext cx="11022012" cy="5365122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boshqacha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aytganda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integrallash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deganda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yechimini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integralini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(agar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boshlang’ich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bo‘lmasa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boshlang’ich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shartlarni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qanoatlantiruvchi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(agar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xususiy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topishni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tushinish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93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98588" y="342900"/>
            <a:ext cx="10793412" cy="5339722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-misol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chiziqlar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oilasi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AutoNum type="arabicParenR"/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hosila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olinadi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>
              <a:buAutoNum type="arabicParenR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hosiladan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topiladi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buAutoNum type="arabicParenR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Topilgan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tenglashtiramiz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tartibli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differensial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tenglamadir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87388" y="-228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595637"/>
              </p:ext>
            </p:extLst>
          </p:nvPr>
        </p:nvGraphicFramePr>
        <p:xfrm>
          <a:off x="2961842" y="1195388"/>
          <a:ext cx="1000124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5" name="Equation" r:id="rId3" imgW="520700" imgH="228600" progId="Equation.DSMT4">
                  <p:embed/>
                </p:oleObj>
              </mc:Choice>
              <mc:Fallback>
                <p:oleObj name="Equation" r:id="rId3" imgW="52070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1842" y="1195388"/>
                        <a:ext cx="1000124" cy="444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638934"/>
              </p:ext>
            </p:extLst>
          </p:nvPr>
        </p:nvGraphicFramePr>
        <p:xfrm>
          <a:off x="3378199" y="2584450"/>
          <a:ext cx="796636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6" name="Equation" r:id="rId5" imgW="583947" imgH="203112" progId="Equation.DSMT4">
                  <p:embed/>
                </p:oleObj>
              </mc:Choice>
              <mc:Fallback>
                <p:oleObj name="Equation" r:id="rId5" imgW="583947" imgH="203112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199" y="2584450"/>
                        <a:ext cx="796636" cy="2921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267822"/>
              </p:ext>
            </p:extLst>
          </p:nvPr>
        </p:nvGraphicFramePr>
        <p:xfrm>
          <a:off x="1816100" y="2928239"/>
          <a:ext cx="574524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7" name="Equation" r:id="rId7" imgW="482391" imgH="393529" progId="Equation.DSMT4">
                  <p:embed/>
                </p:oleObj>
              </mc:Choice>
              <mc:Fallback>
                <p:oleObj name="Equation" r:id="rId7" imgW="482391" imgH="39352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2928239"/>
                        <a:ext cx="574524" cy="482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887653"/>
              </p:ext>
            </p:extLst>
          </p:nvPr>
        </p:nvGraphicFramePr>
        <p:xfrm>
          <a:off x="4145970" y="2874578"/>
          <a:ext cx="603830" cy="497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8" name="Equation" r:id="rId9" imgW="495085" imgH="393529" progId="Equation.DSMT4">
                  <p:embed/>
                </p:oleObj>
              </mc:Choice>
              <mc:Fallback>
                <p:oleObj name="Equation" r:id="rId9" imgW="495085" imgH="39352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5970" y="2874578"/>
                        <a:ext cx="603830" cy="4972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000464"/>
              </p:ext>
            </p:extLst>
          </p:nvPr>
        </p:nvGraphicFramePr>
        <p:xfrm>
          <a:off x="2103362" y="3778511"/>
          <a:ext cx="7953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9" name="Equation" r:id="rId11" imgW="609480" imgH="393480" progId="Equation.DSMT4">
                  <p:embed/>
                </p:oleObj>
              </mc:Choice>
              <mc:Fallback>
                <p:oleObj name="Equation" r:id="rId11" imgW="609480" imgH="393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362" y="3778511"/>
                        <a:ext cx="795338" cy="536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380751"/>
              </p:ext>
            </p:extLst>
          </p:nvPr>
        </p:nvGraphicFramePr>
        <p:xfrm>
          <a:off x="3077098" y="3904000"/>
          <a:ext cx="906942" cy="350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0" name="Equation" r:id="rId13" imgW="558558" imgH="203112" progId="Equation.DSMT4">
                  <p:embed/>
                </p:oleObj>
              </mc:Choice>
              <mc:Fallback>
                <p:oleObj name="Equation" r:id="rId13" imgW="558558" imgH="20311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7098" y="3904000"/>
                        <a:ext cx="906942" cy="3500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8040173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Воздушный пото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223</TotalTime>
  <Words>931</Words>
  <Application>Microsoft Office PowerPoint</Application>
  <PresentationFormat>Широкоэкранный</PresentationFormat>
  <Paragraphs>91</Paragraphs>
  <Slides>19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8" baseType="lpstr">
      <vt:lpstr>Arial</vt:lpstr>
      <vt:lpstr>Cambria Math</vt:lpstr>
      <vt:lpstr>Century Gothic</vt:lpstr>
      <vt:lpstr>Tahoma</vt:lpstr>
      <vt:lpstr>Times New Roman</vt:lpstr>
      <vt:lpstr>Wingdings 3</vt:lpstr>
      <vt:lpstr>Легкий дым</vt:lpstr>
      <vt:lpstr>Equation</vt:lpstr>
      <vt:lpstr>MathType 6.0 Equation</vt:lpstr>
      <vt:lpstr>1-Mavzu: Oddiy differensial tenglamalar nazariyasining asosiy tushunchalari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1-Mavzu: Oddiy differensial tenglamalar nazariyasining asosiy tushunchalari </dc:title>
  <dc:creator>Dell</dc:creator>
  <cp:lastModifiedBy>Dell</cp:lastModifiedBy>
  <cp:revision>27</cp:revision>
  <dcterms:created xsi:type="dcterms:W3CDTF">2025-11-26T00:42:09Z</dcterms:created>
  <dcterms:modified xsi:type="dcterms:W3CDTF">2025-11-26T12:54:13Z</dcterms:modified>
</cp:coreProperties>
</file>